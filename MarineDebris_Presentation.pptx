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64008"/>
            <a:ext cx="2560320" cy="5143500"/>
          </a:xfrm>
          <a:prstGeom prst="rect">
            <a:avLst/>
          </a:prstGeom>
          <a:solidFill>
            <a:srgbClr val="0A3A5C"/>
          </a:solidFill>
          <a:ln w="12700">
            <a:solidFill>
              <a:srgbClr val="0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E1CB"/>
                </a:solidFill>
              </a:rPr>
              <a:t>DEEP LEARNING · BLEKINGE INSTITUTE OF TECHNOLOGY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Marine Debris Detection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Sentinel-2 Imagery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1CB"/>
                </a:solidFill>
              </a:rPr>
              <a:t>via Multi-Scale Spectral Index Fusion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1F5EE"/>
                </a:solidFill>
              </a:rPr>
              <a:t>Semantic Segmentation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2926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1F5EE"/>
                </a:solidFill>
              </a:rPr>
              <a:t>Satellite Remote Sensing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0" y="292608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1F5EE"/>
                </a:solidFill>
              </a:rPr>
              <a:t>MARIDA Benchmark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B8CC"/>
                </a:solidFill>
              </a:rPr>
              <a:t>Saideep Reddy Tamma  ·  Sriya Chittaneni  ·  Meghashyam Sai Dontha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005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E1CB"/>
                </a:solidFill>
              </a:rPr>
              <a:t>Key Metric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6656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Debris F1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600200"/>
            <a:ext cx="1920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00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0.598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E1CB"/>
                </a:solidFill>
              </a:rPr>
              <a:t>Best DL result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FE1CB"/>
                </a:solidFill>
              </a:rPr>
              <a:t>on MARIDA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1920240" cy="457200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75.7M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246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E1CB"/>
                </a:solidFill>
              </a:rPr>
              <a:t>DeepSpectralUNet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PROBLEM MOTIVATION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Why is marine debris detection hard?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572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2039112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Extreme Class Imbalance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17043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Marine debris = 0.45% of pixels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(1,943 / 429,412 labeled pixels)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A water-only model is 99.5% accurate.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45720" cy="1417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822960"/>
            <a:ext cx="2039112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Spectral Ambiguity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32888" y="117043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Debris looks identical to sargassum,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sea foam &amp; natural organic matter.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Standard features cannot discriminate.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822960"/>
            <a:ext cx="45720" cy="1417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22960"/>
            <a:ext cx="2039112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Sparse Training Signal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27448" y="117043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Many patches have zero debris pixels.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Models can train entire epochs without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seeing a single debris example.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12280" y="822960"/>
            <a:ext cx="45720" cy="141732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822960"/>
            <a:ext cx="2039112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9144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Annotation Uncertainty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22008" y="117043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Each pixel has a confidence score.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Low-confidence pixels introduce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noisy gradients if not filtered.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95728"/>
            <a:ext cx="8686800" cy="34747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95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C447C"/>
                </a:solidFill>
              </a:rPr>
              <a:t>Sentinel-2 multispectral imagery  ·  256×256 pixel patches  ·  10-class semantic segmentation  ·  1,381 labeled patches total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" y="29077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MARIDA Dataset Splits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200400"/>
            <a:ext cx="42062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584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Train: 694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200400"/>
            <a:ext cx="2018995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584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Validation: 328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200400"/>
            <a:ext cx="2187245" cy="32004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5844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Test: 359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8600" y="45262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Primary metric: Debris F1-score  ·  Also: Debris IoU, Macro F1, Overall Accuracy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DATASET &amp; SPECTRAL FEATURES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15-Channel Input: Raw Bands + Computed Indices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11 Sentinel-2 Bands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2926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B1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76072" y="1115568"/>
            <a:ext cx="2926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23544" y="1115568"/>
            <a:ext cx="29260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B3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271016" y="1115568"/>
            <a:ext cx="29260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1016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B4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618488" y="1115568"/>
            <a:ext cx="292608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8488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B5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65960" y="1115568"/>
            <a:ext cx="292608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B6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313432" y="1115568"/>
            <a:ext cx="292608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13432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B7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60904" y="1115568"/>
            <a:ext cx="292608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B8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008376" y="1115568"/>
            <a:ext cx="292608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08376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B8A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355848" y="1115568"/>
            <a:ext cx="292608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B11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703320" y="1115568"/>
            <a:ext cx="292608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111556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B12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050792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 concat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841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4 Spectral Indices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115568"/>
            <a:ext cx="457200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FDI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93792" y="1115568"/>
            <a:ext cx="45720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NDVI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24144" y="1115568"/>
            <a:ext cx="4572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24144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NDWI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54496" y="1115568"/>
            <a:ext cx="457200" cy="50292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11155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FAI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12280" y="1115568"/>
            <a:ext cx="22860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12070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= 15ch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1874520"/>
            <a:ext cx="45720" cy="9601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1874520"/>
            <a:ext cx="416052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19476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FDI — Floating Debris Index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8328" y="21762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Uses NIR + SWIR bands. Specifically designed to highlight floating material on the ocean surface (Biermann et al.).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1874520"/>
            <a:ext cx="4572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1874520"/>
            <a:ext cx="416052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19476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NDVI — Normalized Diff. Vegetation Index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18888" y="21762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Separates vegetative material (sargassum) from non-vegetative debris. High NDVI = likely sargassum, not plastic.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2971800"/>
            <a:ext cx="4572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971800"/>
            <a:ext cx="416052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" y="30449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NDWI — Normalized Diff. Water Index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38328" y="32735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Enhances water body signal, suppresses land and floating material. Helps the model distinguish open water from debris zones.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2971800"/>
            <a:ext cx="45720" cy="96012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971800"/>
            <a:ext cx="416052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18888" y="30449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FAI — Floating Algae Index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18888" y="32735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Discriminates algal blooms from non-algal floaters. Complements FDI for separating organic vs inorganic debris.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8600" y="4507992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Key insight: FDI std dev after normalization = 0.010 vs B04 std dev = 0.107 — indices compete poorly when mixed with raw bands in a shared encoder.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PROPOSED 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DeepSpectralUNet — Multi-Scale Spectral Fusion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8046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C447C"/>
                </a:solidFill>
              </a:rPr>
              <a:t>Main Encoder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C447C"/>
                </a:solidFill>
              </a:rPr>
              <a:t>(11 raw bands)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0" y="8046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85041"/>
                </a:solidFill>
              </a:rPr>
              <a:t>Spectral Branch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85041"/>
                </a:solidFill>
              </a:rPr>
              <a:t>(FDI · NDVI · NDWI · FAI)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71200D"/>
                </a:solidFill>
              </a:rPr>
              <a:t>Decoder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71200D"/>
                </a:solidFill>
              </a:rPr>
              <a:t>(3-way fusion per stage)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261872"/>
            <a:ext cx="2377440" cy="502920"/>
          </a:xfrm>
          <a:prstGeom prst="rect">
            <a:avLst/>
          </a:prstGeom>
          <a:solidFill>
            <a:srgbClr val="E6F1FB"/>
          </a:solidFill>
          <a:ln w="9525">
            <a:solidFill>
              <a:srgbClr val="B5D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2618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ResBlock + CBAM · 64ch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256×256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" y="17647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920240"/>
            <a:ext cx="2377440" cy="502920"/>
          </a:xfrm>
          <a:prstGeom prst="rect">
            <a:avLst/>
          </a:prstGeom>
          <a:solidFill>
            <a:srgbClr val="E6F1FB"/>
          </a:solidFill>
          <a:ln w="9525">
            <a:solidFill>
              <a:srgbClr val="B5D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ResBlock + CBAM · 128ch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128×128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" y="24231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2578608"/>
            <a:ext cx="2377440" cy="502920"/>
          </a:xfrm>
          <a:prstGeom prst="rect">
            <a:avLst/>
          </a:prstGeom>
          <a:solidFill>
            <a:srgbClr val="E6F1FB"/>
          </a:solidFill>
          <a:ln w="9525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ResBlock + CBAM · 256ch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64×64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" y="30815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236976"/>
            <a:ext cx="2377440" cy="502920"/>
          </a:xfrm>
          <a:prstGeom prst="rect">
            <a:avLst/>
          </a:prstGeom>
          <a:solidFill>
            <a:srgbClr val="E6F1FB"/>
          </a:solidFill>
          <a:ln w="9525">
            <a:solidFill>
              <a:srgbClr val="B5D4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ResBlock + CBAM · 512ch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C447C"/>
                </a:solidFill>
              </a:rPr>
              <a:t>32×32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3977640"/>
            <a:ext cx="23774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Bottleneck · 3×Res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1024ch · 16×16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1261872"/>
            <a:ext cx="2377440" cy="502920"/>
          </a:xfrm>
          <a:prstGeom prst="rect">
            <a:avLst/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12618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</a:rPr>
              <a:t>Conv-BN-ReLU · 64ch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17520" y="176479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1920240"/>
            <a:ext cx="2377440" cy="502920"/>
          </a:xfrm>
          <a:prstGeom prst="rect">
            <a:avLst/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</a:rPr>
              <a:t>Conv-BN-ReLU · 128ch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17520" y="24231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2578608"/>
            <a:ext cx="2377440" cy="502920"/>
          </a:xfrm>
          <a:prstGeom prst="rect">
            <a:avLst/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</a:rPr>
              <a:t>Conv-BN-ReLU · 256ch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17520" y="308152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236976"/>
            <a:ext cx="2377440" cy="502920"/>
          </a:xfrm>
          <a:prstGeom prst="rect">
            <a:avLst/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</a:rPr>
              <a:t>Conv-BN-ReLU · 512ch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06040" y="1399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1399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06040" y="2057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2057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606040" y="27157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27157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606040" y="337413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94960" y="337413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5A30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852160" y="1261872"/>
            <a:ext cx="3017520" cy="502920"/>
          </a:xfrm>
          <a:prstGeom prst="rect">
            <a:avLst/>
          </a:prstGeom>
          <a:solidFill>
            <a:srgbClr val="FFF0E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1261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1200D"/>
                </a:solidFill>
              </a:rPr>
              <a:t>Upsample + Attn Gate + CBAM + Spectral → ResBlock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852160" y="1920240"/>
            <a:ext cx="3017520" cy="502920"/>
          </a:xfrm>
          <a:prstGeom prst="rect">
            <a:avLst/>
          </a:prstGeom>
          <a:solidFill>
            <a:srgbClr val="FFF0E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1200D"/>
                </a:solidFill>
              </a:rPr>
              <a:t>Upsample + Attn Gate + CBAM + Spectral → ResBlock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52160" y="2578608"/>
            <a:ext cx="3017520" cy="502920"/>
          </a:xfrm>
          <a:prstGeom prst="rect">
            <a:avLst/>
          </a:prstGeom>
          <a:solidFill>
            <a:srgbClr val="FFF0E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57860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1200D"/>
                </a:solidFill>
              </a:rPr>
              <a:t>Upsample + Attn Gate + CBAM + Spectral → ResBlock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52160" y="3236976"/>
            <a:ext cx="3017520" cy="502920"/>
          </a:xfrm>
          <a:prstGeom prst="rect">
            <a:avLst/>
          </a:prstGeom>
          <a:solidFill>
            <a:srgbClr val="FFF0E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323697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1200D"/>
                </a:solidFill>
              </a:rPr>
              <a:t>Upsample + Attn Gate + CBAM + Spectral → ResBlock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852160" y="3977640"/>
            <a:ext cx="301752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3977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1×1 Conv → 10-class logits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52160" y="4480560"/>
            <a:ext cx="301752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★  Key novelty: spectral features injected at ALL 4 decoder scales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TRAINING STRATEGY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Handling 0.45% Class Imbalance — Three Strategies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743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Debris-Aware Patch Sampler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152144"/>
            <a:ext cx="416052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07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debris pixels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243584"/>
            <a:ext cx="43891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2161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1×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4904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1–5 px, low confidence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48840" y="1527048"/>
            <a:ext cx="42428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49961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10×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77393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6–20 px, high confidence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48840" y="1810512"/>
            <a:ext cx="1053389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78308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25×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0574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&gt;20 debris pixels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48840" y="2093976"/>
            <a:ext cx="146304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06654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</a:rPr>
              <a:t>35×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274320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Inverse-Frequency Weighted Loss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152144"/>
            <a:ext cx="425196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2161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w_c = N / (2 · n_c)  normalized so Σw = #classes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15361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Marine Debris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1563624"/>
            <a:ext cx="526694" cy="1463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15361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85A30"/>
                </a:solidFill>
              </a:rPr>
              <a:t>110.5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17647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Foam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0" y="1792224"/>
            <a:ext cx="2194560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17647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457.8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1993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Ships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2020824"/>
            <a:ext cx="307238" cy="1463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19933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65.3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600" y="22219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Water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2249424"/>
            <a:ext cx="45720" cy="1463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22199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0.6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487168"/>
            <a:ext cx="4251960" cy="27432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1200D"/>
                </a:solidFill>
              </a:rPr>
              <a:t>Debris misclassification penalized 184× more than water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2606040"/>
            <a:ext cx="274320" cy="27432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Warmup Cosine Annealing LR Schedule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2935224"/>
            <a:ext cx="416052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995928"/>
            <a:ext cx="86868" cy="17830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2628" y="3831336"/>
            <a:ext cx="86868" cy="17830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9496" y="3666744"/>
            <a:ext cx="86868" cy="17830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" y="3502152"/>
            <a:ext cx="86868" cy="17830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" y="3337560"/>
            <a:ext cx="86868" cy="17830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" y="3337560"/>
            <a:ext cx="86868" cy="1537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6968" y="3339216"/>
            <a:ext cx="86868" cy="1867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3836" y="3344173"/>
            <a:ext cx="86868" cy="2193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0704" y="3352389"/>
            <a:ext cx="86868" cy="2512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47572" y="3363798"/>
            <a:ext cx="86868" cy="28227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34440" y="3378309"/>
            <a:ext cx="86868" cy="3121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1308" y="3395805"/>
            <a:ext cx="86868" cy="3405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08176" y="3416146"/>
            <a:ext cx="86868" cy="3673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95044" y="3439166"/>
            <a:ext cx="86868" cy="39231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81912" y="3464682"/>
            <a:ext cx="86868" cy="41521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68780" y="3492486"/>
            <a:ext cx="86868" cy="4358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55648" y="3522357"/>
            <a:ext cx="86868" cy="4541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42516" y="3554053"/>
            <a:ext cx="86868" cy="4698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9384" y="3587318"/>
            <a:ext cx="86868" cy="48284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016252" y="3621886"/>
            <a:ext cx="86868" cy="49307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03120" y="3657477"/>
            <a:ext cx="86868" cy="50045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89988" y="3693806"/>
            <a:ext cx="86868" cy="50489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6856" y="3730579"/>
            <a:ext cx="86868" cy="5063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63724" y="3767501"/>
            <a:ext cx="86868" cy="50489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50592" y="3804274"/>
            <a:ext cx="86868" cy="50045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37460" y="3840603"/>
            <a:ext cx="86868" cy="49307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24328" y="3876194"/>
            <a:ext cx="86868" cy="48284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11196" y="3910762"/>
            <a:ext cx="86868" cy="4698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98064" y="3944027"/>
            <a:ext cx="86868" cy="4541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884932" y="3975723"/>
            <a:ext cx="86868" cy="4358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71800" y="4005594"/>
            <a:ext cx="86868" cy="41521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58668" y="4033398"/>
            <a:ext cx="86868" cy="39231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45536" y="4058914"/>
            <a:ext cx="86868" cy="3673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32404" y="4081934"/>
            <a:ext cx="86868" cy="3405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19272" y="4102275"/>
            <a:ext cx="86868" cy="3121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06140" y="4119771"/>
            <a:ext cx="86868" cy="28227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93008" y="4134282"/>
            <a:ext cx="86868" cy="25126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9876" y="4145691"/>
            <a:ext cx="86868" cy="2193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66744" y="4153907"/>
            <a:ext cx="86868" cy="1867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53612" y="4158864"/>
            <a:ext cx="86868" cy="15372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4206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Epochs →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320040" y="298094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5-epoch linear warmup prevents gradient explosion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on rare debris pixels early in training.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28600" y="449884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Also: gradient clipping (norm 0.5)  ·  random 90° rotations + h/v flips  ·  mixed precision (AMP)  ·  best checkpoint saved by val Debris F1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BASELINE MODELS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5 Models Compared Against DeepSpectralUNet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761488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914400"/>
            <a:ext cx="36576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14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Random Forest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120700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207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Classical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" y="144475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200 trees · balanced class weights · per-pixel spectral classification · no spatial context · original MARIDA baseline.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761488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914400"/>
            <a:ext cx="36576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914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U-Net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82696" y="120700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E6F1FB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207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A82"/>
                </a:solidFill>
              </a:rPr>
              <a:t>Encoder-Decoder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82696" y="144475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4-stage encoder with MaxPooling + skip connections · double Conv-BN-ReLU blocks · no attention or residuals.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17336" y="822960"/>
            <a:ext cx="2761488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7064" y="914400"/>
            <a:ext cx="36576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914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Attention U-Net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27064" y="120700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207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+ Attention Gates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27064" y="144475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Extends U-Net with attention gates on skip connections — suppress background, amplify debris regions.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2331720"/>
            <a:ext cx="2761488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" y="2423160"/>
            <a:ext cx="36576" cy="27432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DeepLabV3+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" y="271576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EEEDFE"/>
          </a:solidFill>
          <a:ln w="6350">
            <a:solidFill>
              <a:srgbClr val="533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27157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33AB7"/>
                </a:solidFill>
              </a:rPr>
              <a:t>Dilated CNN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8328" y="29535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ResNet50 + ASPP · no pretrained weights (15-ch) · dilated convolutions expand receptive field without reducing resolution.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172968" y="2331720"/>
            <a:ext cx="2761488" cy="1325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2696" y="2423160"/>
            <a:ext cx="36576" cy="2743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ResAttUNet-CBAM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82696" y="271576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27157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85A30"/>
                </a:solidFill>
              </a:rPr>
              <a:t>SOTA on MARIDA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82696" y="29535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Residual blocks + CBAM channel &amp; spatial attention + attention gates. All three together are required for strong debris detection.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17336" y="2331720"/>
            <a:ext cx="2761488" cy="1325880"/>
          </a:xfrm>
          <a:prstGeom prst="rect">
            <a:avLst/>
          </a:prstGeom>
          <a:solidFill>
            <a:srgbClr val="E1F5E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27064" y="2423160"/>
            <a:ext cx="36576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DeepSpectralUNet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27064" y="271576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27157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</a:rPr>
              <a:t>Proposed ★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27064" y="29535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Extends ResAttUNet-CBAM with dedicated 4-stage spectral branch fused at every decoder stage. 75.7M parameters.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QUANTITATIVE 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MARIDA Test Set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029200" cy="274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83464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Debris F1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Debris IoU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Macro F1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Accuracy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115568"/>
            <a:ext cx="5029200" cy="329184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1155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45309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0" y="1115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0.804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1115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0.673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1115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0.562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115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0.924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463040"/>
            <a:ext cx="5029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4630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U-Net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0.319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0.190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0.511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0.888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810512"/>
            <a:ext cx="502920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18105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Attention U-Net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28800" y="1810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0.333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34640" y="1810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0.200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1810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0.507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18105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0.873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157984"/>
            <a:ext cx="5029200" cy="329184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157984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DeepLabV3+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828800" y="21579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0.126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34640" y="21579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0.067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21579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0.363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1579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0.718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505456"/>
            <a:ext cx="5029200" cy="32918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5054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ResAttUNet-CBAM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28800" y="2505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0.592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34640" y="2505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0.421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0" y="2505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0.748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505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0.955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2852928"/>
            <a:ext cx="5029200" cy="329184"/>
          </a:xfrm>
          <a:prstGeom prst="rect">
            <a:avLst/>
          </a:prstGeom>
          <a:solidFill>
            <a:srgbClr val="E0F2F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2852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DeepSpectralUNet ★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28800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0.598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34640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0.426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0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0.619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46320" y="28529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0.935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0" y="8046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Debris F1 Comparison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11155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Random Forest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86600" y="1152144"/>
            <a:ext cx="1470355" cy="182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02675" y="11247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0.804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486400" y="15544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ResAttUNet-CBAM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86600" y="1591056"/>
            <a:ext cx="108265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14970" y="156362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65A82"/>
                </a:solidFill>
              </a:rPr>
              <a:t>0.592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486400" y="1993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DeepSpectralUNet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086600" y="2029968"/>
            <a:ext cx="109362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5942" y="200253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0.598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486400" y="24323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Attention U-Net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086600" y="2468880"/>
            <a:ext cx="60899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41310" y="244144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0.333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486400" y="28712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U-Net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086600" y="2907792"/>
            <a:ext cx="583387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5707" y="28803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0.319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486400" y="3310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DeepLabV3+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086600" y="3346704"/>
            <a:ext cx="230429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62749" y="331927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0.126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28600" y="4160520"/>
            <a:ext cx="54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" y="4160520"/>
            <a:ext cx="54864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4160520"/>
            <a:ext cx="54864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" y="4160520"/>
            <a:ext cx="54864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8600" y="4133088"/>
            <a:ext cx="868680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151376"/>
            <a:ext cx="841248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2626"/>
                </a:solidFill>
              </a:rPr>
              <a:t>• DeepLabV3+ worst — dilated convs average sparse debris signal into water background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365760" y="4283964"/>
            <a:ext cx="841248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• Attn gates alone (Attn U-Net) barely help — residual connections + CBAM both required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365760" y="4416552"/>
            <a:ext cx="841248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45309"/>
                </a:solidFill>
              </a:rPr>
              <a:t>• Random Forest strong on debris F1 but macro F1 = 0.562 — no spatial context</a:t>
            </a:r>
            <a:endParaRPr lang="en-US" sz="780" dirty="0"/>
          </a:p>
        </p:txBody>
      </p:sp>
      <p:sp>
        <p:nvSpPr>
          <p:cNvPr id="76" name="Text 74"/>
          <p:cNvSpPr/>
          <p:nvPr/>
        </p:nvSpPr>
        <p:spPr>
          <a:xfrm>
            <a:off x="365760" y="4549140"/>
            <a:ext cx="8412480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7293"/>
                </a:solidFill>
              </a:rPr>
              <a:t>• DeepSpectralUNet: best DL debris F1 &amp; IoU — consistent across runs (0.60–0.66)</a:t>
            </a:r>
            <a:endParaRPr lang="en-US" sz="780" dirty="0"/>
          </a:p>
        </p:txBody>
      </p:sp>
      <p:sp>
        <p:nvSpPr>
          <p:cNvPr id="77" name="Text 75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ABLATION STUDY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Why Fusion Location Matters More Than Fusion Itself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743200" cy="2011680"/>
          </a:xfrm>
          <a:prstGeom prst="rect">
            <a:avLst/>
          </a:prstGeom>
          <a:solidFill>
            <a:srgbClr val="E6F1FB"/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886968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86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Baseline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ResAttUNet-CBAM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(no spectral branch)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F1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00200" y="15727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0.592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" y="19385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IoU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0200" y="18928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0.421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36392" y="822960"/>
            <a:ext cx="2743200" cy="201168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9544" y="886968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886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Single-stage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46120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SpectralAttUNet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(single-stage fusion)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F1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07992" y="15727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0.515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46120" y="19385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IoU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07992" y="18928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0.350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44184" y="822960"/>
            <a:ext cx="2743200" cy="2011680"/>
          </a:xfrm>
          <a:prstGeom prst="rect">
            <a:avLst/>
          </a:prstGeom>
          <a:solidFill>
            <a:srgbClr val="E1F5E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17336" y="886968"/>
            <a:ext cx="1280160" cy="2286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886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Proposed 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53912" y="116128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DeepSpectralUNet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(multi-scale fusion)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F1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15784" y="15727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0.598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53912" y="19385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Debris IoU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15784" y="18928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0.426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017520" y="2880360"/>
            <a:ext cx="7772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8803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−0.077 F1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16168" y="2880360"/>
            <a:ext cx="777240" cy="411480"/>
          </a:xfrm>
          <a:prstGeom prst="rect">
            <a:avLst/>
          </a:prstGeom>
          <a:solidFill>
            <a:srgbClr val="E1F5EE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28803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5041"/>
                </a:solidFill>
              </a:rPr>
              <a:t>+0.083 F1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2962656"/>
            <a:ext cx="4160520" cy="105156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175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Why single-stage fusion hurts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32735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The spectral branch lights up for all floating materials (debris, sargassum, foam, organic matter). Injected only at the final decoder layer, this fires as a last-minute override — the decoder has no earlier context to discriminate which floating class it is. Recall rises but precision collapses, and net F1 drops below the no-fusion baseline.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962656"/>
            <a:ext cx="4251960" cy="1051560"/>
          </a:xfrm>
          <a:prstGeom prst="rect">
            <a:avLst/>
          </a:prstGeom>
          <a:solidFill>
            <a:srgbClr val="E1F5EE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0175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</a:rPr>
              <a:t>Why multi-scale fusion works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82312" y="327355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Fusing at every decoder stage lets coarse scales learn regional floating-material likelihood while fine scales progressively refine which type of floater is present. Discrimination happens incrementally — the model builds confidence across spatial resolutions rather than making a single uninformed decision at the end.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4087368"/>
            <a:ext cx="868680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087368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Consistent across runs: DeepSpectralUNet achieved Debris F1 0.60–0.66 across independent training runs — ResAttUNet-CBAM never exceeded 0.60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QUALITATIVE ANALYSIS &amp; ERROR MODES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What the Model Gets Right — and Where It Fails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8229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Class-level Recall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1371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" y="1133856"/>
            <a:ext cx="80101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1521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Water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8600" y="1344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1.00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73352" y="1115568"/>
            <a:ext cx="137160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133856"/>
            <a:ext cx="81703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3352" y="11521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Sargassum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73352" y="1344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0.97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18104" y="1115568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6392" y="1133856"/>
            <a:ext cx="843735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1521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Marine Debris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18104" y="13441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0.92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1645920"/>
            <a:ext cx="13716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" y="1664208"/>
            <a:ext cx="8704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682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Clouds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8600" y="1874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0.87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73352" y="1645920"/>
            <a:ext cx="13716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1664208"/>
            <a:ext cx="105199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3352" y="1682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Foam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73352" y="1874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0.53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18104" y="1645920"/>
            <a:ext cx="1371600" cy="457200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6392" y="1664208"/>
            <a:ext cx="971897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16824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Ships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118104" y="18745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0.68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2176272"/>
            <a:ext cx="13716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888" y="2194560"/>
            <a:ext cx="1078699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212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Cloud Shadows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28600" y="2404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0.48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73352" y="2176272"/>
            <a:ext cx="13716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91640" y="2194560"/>
            <a:ext cx="1126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73352" y="2212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Wakes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673352" y="2404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0.39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18104" y="2176272"/>
            <a:ext cx="13716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36392" y="2194560"/>
            <a:ext cx="133502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18104" y="2212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Waves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118104" y="2404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0.00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82296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Failure Modes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1115568"/>
            <a:ext cx="457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1115568"/>
            <a:ext cx="4297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1170432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Natural Organic Material → Debris (92%)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81728" y="138988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Both float. Overlapping spectral signatures. Only 723 NOM training pixels — not enough to learn separation. Root cause: data scarcity, not model design.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1865376"/>
            <a:ext cx="45720" cy="6583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1865376"/>
            <a:ext cx="4297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1920240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Waves / Wakes → Water (~40%)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81728" y="21396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Near-total spectral overlap with water. Very few training pixels. Near-zero IoU. Effectively unlearnable at current dataset scale.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615184"/>
            <a:ext cx="457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2615184"/>
            <a:ext cx="4297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81728" y="2670048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Coastal corner false positives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81728" y="2889504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Model over-expands debris predictions along coastal boundaries. Consistent with heavy recall bias from class weighting — precision cost of high recall.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3364992"/>
            <a:ext cx="45720" cy="65836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3364992"/>
            <a:ext cx="42976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3419856"/>
            <a:ext cx="4160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Floating material bias in spectral branch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681728" y="363931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Reduces Macro F1 (0.619 vs 0.748 for ResAttUNet-CBAM). Classes without spectral index responses (Wakes, Shadows) are hurt by the branch.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28600" y="449884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Per-class IoU: Water 0.97  ·  Sargassum 0.96  ·  Marine Debris 0.50  ·  Natural Organic Material ≈0  ·  Waves ≈0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FE1CB"/>
                </a:solidFill>
              </a:rPr>
              <a:t>CONCLUSION &amp; FUTURE WORK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384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We Showed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384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Limitations &amp; Next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04672"/>
            <a:ext cx="2743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804672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8503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Multi-scale spectral fusion works — fusing FDI/NDVI/NDWI/FAI at every decoder stage improves Debris F1 by +0.083 over single-stage fusion.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472184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472184"/>
            <a:ext cx="2743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72184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5179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All 3 ingredients required — residual connections + CBAM + attention gates. Any one missing drops F1 below 0.34.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139696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39696"/>
            <a:ext cx="2743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39696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18541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Fusion location is critical — single-stage fusion actively hurts, proving the design principle not just the outcome.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807208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07208"/>
            <a:ext cx="27432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07208"/>
            <a:ext cx="274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285292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Best DL Debris F1 = 0.598 and IoU = 0.426 on MARIDA, consistent across runs (0.60–0.66).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804672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804672"/>
            <a:ext cx="54864" cy="56692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85039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Only 1,943 debris training pixels — causes 92% NOM→Debris confusion. Root cause: dataset size, not architecture.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472184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472184"/>
            <a:ext cx="54864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51790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Floating-material bias lowers Macro F1 (0.619 vs 0.748). Future: class-conditional spectral gating.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139696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533AB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139696"/>
            <a:ext cx="54864" cy="566928"/>
          </a:xfrm>
          <a:prstGeom prst="rect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18541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Model size: 75.7M parameters (2.3× ResAttUNet-CBAM). Future: lighter spectral branch design.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807208"/>
            <a:ext cx="4160520" cy="566928"/>
          </a:xfrm>
          <a:prstGeom prst="rect">
            <a:avLst/>
          </a:prstGeom>
          <a:solidFill>
            <a:srgbClr val="0A3A5C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07208"/>
            <a:ext cx="54864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8529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B5D4F4"/>
                </a:solidFill>
              </a:rPr>
              <a:t>Combine MARIDA + MADOS datasets to improve generalization across ocean scenes and debris types.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B8CC"/>
                </a:solidFill>
              </a:rPr>
              <a:t>Saideep Reddy Tamma  ·  Sriya Chittaneni  ·  Meghashyam Sai Dontha  ·  Blekinge Institute of Technology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503920" y="49377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Debris Detection</dc:title>
  <dc:subject>PptxGenJS Presentation</dc:subject>
  <dc:creator>PptxGenJS</dc:creator>
  <cp:lastModifiedBy>PptxGenJS</cp:lastModifiedBy>
  <cp:revision>1</cp:revision>
  <dcterms:created xsi:type="dcterms:W3CDTF">2026-05-28T09:55:52Z</dcterms:created>
  <dcterms:modified xsi:type="dcterms:W3CDTF">2026-05-28T09:55:52Z</dcterms:modified>
</cp:coreProperties>
</file>